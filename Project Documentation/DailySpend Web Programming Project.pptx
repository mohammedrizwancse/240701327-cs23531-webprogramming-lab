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57" r:id="rId3"/>
    <p:sldId id="270" r:id="rId4"/>
    <p:sldId id="273" r:id="rId5"/>
    <p:sldId id="274" r:id="rId6"/>
    <p:sldId id="275" r:id="rId7"/>
    <p:sldId id="276" r:id="rId8"/>
    <p:sldId id="277" r:id="rId9"/>
    <p:sldId id="271" r:id="rId10"/>
    <p:sldId id="278"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5033" autoAdjust="0"/>
  </p:normalViewPr>
  <p:slideViewPr>
    <p:cSldViewPr snapToGrid="0">
      <p:cViewPr varScale="1">
        <p:scale>
          <a:sx n="110" d="100"/>
          <a:sy n="110" d="100"/>
        </p:scale>
        <p:origin x="-594"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10/17/2026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ailyspend-ivory.vercel.app/" TargetMode="External"/><Relationship Id="rId2" Type="http://schemas.openxmlformats.org/officeDocument/2006/relationships/hyperlink" Target="https://github.com/mohammedrizwancse/240701327-CS23531-WebProgramming-La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F2EDA5-F02A-94A2-4764-3D705320C140}"/>
              </a:ext>
            </a:extLst>
          </p:cNvPr>
          <p:cNvSpPr>
            <a:spLocks noGrp="1"/>
          </p:cNvSpPr>
          <p:nvPr>
            <p:ph type="title"/>
          </p:nvPr>
        </p:nvSpPr>
        <p:spPr>
          <a:xfrm>
            <a:off x="852949" y="3733254"/>
            <a:ext cx="10131425" cy="1428682"/>
          </a:xfrm>
        </p:spPr>
        <p:txBody>
          <a:bodyPr>
            <a:normAutofit fontScale="90000"/>
          </a:bodyPr>
          <a:lstStyle/>
          <a:p>
            <a:pPr algn="ctr"/>
            <a:r>
              <a:rPr lang="en-IN" b="1" dirty="0">
                <a:solidFill>
                  <a:schemeClr val="bg2">
                    <a:lumMod val="20000"/>
                    <a:lumOff val="80000"/>
                  </a:schemeClr>
                </a:solidFill>
                <a:latin typeface="Times New Roman" panose="02020603050405020304" pitchFamily="18" charset="0"/>
                <a:cs typeface="Times New Roman" panose="02020603050405020304" pitchFamily="18" charset="0"/>
              </a:rPr>
              <a:t>   DAILYSPEND: DAILY EXPENSE TRACKING &amp; BUDGET MANAGEMENT SYSTEM USING REACT</a:t>
            </a:r>
            <a:br>
              <a:rPr lang="en-IN" b="1" dirty="0">
                <a:solidFill>
                  <a:schemeClr val="bg2">
                    <a:lumMod val="20000"/>
                    <a:lumOff val="80000"/>
                  </a:schemeClr>
                </a:solidFill>
                <a:latin typeface="Times New Roman" panose="02020603050405020304" pitchFamily="18" charset="0"/>
                <a:cs typeface="Times New Roman" panose="02020603050405020304" pitchFamily="18" charset="0"/>
              </a:rPr>
            </a:br>
            <a:endParaRPr lang="en-IN" b="1" dirty="0">
              <a:solidFill>
                <a:schemeClr val="bg2">
                  <a:lumMod val="20000"/>
                  <a:lumOff val="8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AD159E50-B738-7402-A4D6-E2F322D5702A}"/>
              </a:ext>
            </a:extLst>
          </p:cNvPr>
          <p:cNvSpPr txBox="1"/>
          <p:nvPr/>
        </p:nvSpPr>
        <p:spPr>
          <a:xfrm>
            <a:off x="3012042" y="2047529"/>
            <a:ext cx="5147307" cy="1077218"/>
          </a:xfrm>
          <a:prstGeom prst="rect">
            <a:avLst/>
          </a:prstGeom>
          <a:noFill/>
        </p:spPr>
        <p:txBody>
          <a:bodyPr wrap="none" rtlCol="0">
            <a:spAutoFit/>
          </a:bodyPr>
          <a:lstStyle/>
          <a:p>
            <a:pPr algn="ctr"/>
            <a:r>
              <a:rPr lang="en-IN" sz="3200" dirty="0">
                <a:latin typeface="Times New Roman" panose="02020603050405020304" pitchFamily="18" charset="0"/>
                <a:cs typeface="Times New Roman" panose="02020603050405020304" pitchFamily="18" charset="0"/>
              </a:rPr>
              <a:t>CS23531 - Web Programming</a:t>
            </a:r>
          </a:p>
          <a:p>
            <a:pPr algn="ctr"/>
            <a:r>
              <a:rPr lang="en-IN" sz="3200" dirty="0">
                <a:latin typeface="Times New Roman" panose="02020603050405020304" pitchFamily="18" charset="0"/>
                <a:cs typeface="Times New Roman" panose="02020603050405020304" pitchFamily="18" charset="0"/>
              </a:rPr>
              <a:t>Department </a:t>
            </a:r>
            <a:r>
              <a:rPr lang="en-IN" sz="3200" dirty="0" smtClean="0">
                <a:latin typeface="Times New Roman" panose="02020603050405020304" pitchFamily="18" charset="0"/>
                <a:cs typeface="Times New Roman" panose="02020603050405020304" pitchFamily="18" charset="0"/>
              </a:rPr>
              <a:t>of </a:t>
            </a:r>
            <a:r>
              <a:rPr lang="en-IN" sz="3200" dirty="0">
                <a:latin typeface="Times New Roman" panose="02020603050405020304" pitchFamily="18" charset="0"/>
                <a:cs typeface="Times New Roman" panose="02020603050405020304" pitchFamily="18" charset="0"/>
              </a:rPr>
              <a:t>CSE</a:t>
            </a:r>
          </a:p>
        </p:txBody>
      </p:sp>
      <p:pic>
        <p:nvPicPr>
          <p:cNvPr id="6" name="Picture 5">
            <a:extLst>
              <a:ext uri="{FF2B5EF4-FFF2-40B4-BE49-F238E27FC236}">
                <a16:creationId xmlns:a16="http://schemas.microsoft.com/office/drawing/2014/main" xmlns="" id="{33744895-9083-8A1C-FFFD-42811C0542C9}"/>
              </a:ext>
            </a:extLst>
          </p:cNvPr>
          <p:cNvPicPr>
            <a:picLocks noChangeAspect="1"/>
          </p:cNvPicPr>
          <p:nvPr/>
        </p:nvPicPr>
        <p:blipFill>
          <a:blip r:embed="rId2"/>
          <a:stretch>
            <a:fillRect/>
          </a:stretch>
        </p:blipFill>
        <p:spPr>
          <a:xfrm>
            <a:off x="329022" y="233969"/>
            <a:ext cx="2606266" cy="883997"/>
          </a:xfrm>
          <a:prstGeom prst="rect">
            <a:avLst/>
          </a:prstGeom>
        </p:spPr>
      </p:pic>
      <p:sp>
        <p:nvSpPr>
          <p:cNvPr id="9" name="TextBox 8">
            <a:extLst>
              <a:ext uri="{FF2B5EF4-FFF2-40B4-BE49-F238E27FC236}">
                <a16:creationId xmlns:a16="http://schemas.microsoft.com/office/drawing/2014/main" xmlns="" id="{DEF8434B-13F5-A31C-6B01-A4AE06BBABCD}"/>
              </a:ext>
            </a:extLst>
          </p:cNvPr>
          <p:cNvSpPr txBox="1"/>
          <p:nvPr/>
        </p:nvSpPr>
        <p:spPr>
          <a:xfrm>
            <a:off x="6971071" y="5270090"/>
            <a:ext cx="5220929" cy="1295868"/>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Name :</a:t>
            </a:r>
            <a:r>
              <a:rPr lang="en-IN" dirty="0">
                <a:latin typeface="Times New Roman" panose="02020603050405020304" pitchFamily="18" charset="0"/>
                <a:cs typeface="Times New Roman" panose="02020603050405020304" pitchFamily="18" charset="0"/>
              </a:rPr>
              <a:t> Mohammed Rizwan Sheik Mansoor</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Register Number :</a:t>
            </a:r>
            <a:r>
              <a:rPr lang="en-IN" dirty="0">
                <a:latin typeface="Times New Roman" panose="02020603050405020304" pitchFamily="18" charset="0"/>
                <a:cs typeface="Times New Roman" panose="02020603050405020304" pitchFamily="18" charset="0"/>
              </a:rPr>
              <a:t> 240701327</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Domain :</a:t>
            </a:r>
            <a:r>
              <a:rPr lang="en-IN" dirty="0">
                <a:latin typeface="Times New Roman" panose="02020603050405020304" pitchFamily="18" charset="0"/>
                <a:cs typeface="Times New Roman" panose="02020603050405020304" pitchFamily="18" charset="0"/>
              </a:rPr>
              <a:t> Web Development (Frontend Development</a:t>
            </a:r>
            <a:r>
              <a:rPr lang="en-IN" dirty="0"/>
              <a:t>)</a:t>
            </a:r>
            <a:endParaRPr lang="en-IN" b="1" dirty="0"/>
          </a:p>
        </p:txBody>
      </p:sp>
    </p:spTree>
    <p:extLst>
      <p:ext uri="{BB962C8B-B14F-4D97-AF65-F5344CB8AC3E}">
        <p14:creationId xmlns:p14="http://schemas.microsoft.com/office/powerpoint/2010/main" xmlns="" val="1742370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E17060-029D-20E3-1AA9-97F150EB747A}"/>
              </a:ext>
            </a:extLst>
          </p:cNvPr>
          <p:cNvSpPr>
            <a:spLocks noGrp="1"/>
          </p:cNvSpPr>
          <p:nvPr>
            <p:ph type="title"/>
          </p:nvPr>
        </p:nvSpPr>
        <p:spPr>
          <a:xfrm>
            <a:off x="685801" y="0"/>
            <a:ext cx="10131425" cy="1456267"/>
          </a:xfrm>
        </p:spPr>
        <p:txBody>
          <a:bodyPr/>
          <a:lstStyle/>
          <a:p>
            <a:r>
              <a:rPr lang="en-IN" b="1" dirty="0">
                <a:solidFill>
                  <a:schemeClr val="bg2">
                    <a:lumMod val="20000"/>
                    <a:lumOff val="80000"/>
                  </a:schemeClr>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xmlns="" id="{CF251D3A-97A6-C33C-DEFC-3E1FAF76A451}"/>
              </a:ext>
            </a:extLst>
          </p:cNvPr>
          <p:cNvSpPr txBox="1"/>
          <p:nvPr/>
        </p:nvSpPr>
        <p:spPr>
          <a:xfrm>
            <a:off x="422072" y="1456267"/>
            <a:ext cx="10395154" cy="4661276"/>
          </a:xfrm>
          <a:prstGeom prst="rect">
            <a:avLst/>
          </a:prstGeom>
          <a:noFill/>
        </p:spPr>
        <p:txBody>
          <a:bodyPr wrap="square" rtlCol="0">
            <a:spAutoFit/>
          </a:bodyPr>
          <a:lstStyle/>
          <a:p>
            <a:pPr marL="342900" lvl="0" indent="-342900">
              <a:lnSpc>
                <a:spcPct val="150000"/>
              </a:lnSpc>
              <a:buFont typeface="Wingdings" panose="05000000000000000000" pitchFamily="2" charset="2"/>
              <a:buChar char="§"/>
            </a:pPr>
            <a:r>
              <a:rPr lang="en-IN" sz="2000" dirty="0" err="1">
                <a:latin typeface="Times New Roman" panose="02020603050405020304" pitchFamily="18" charset="0"/>
                <a:cs typeface="Times New Roman" panose="02020603050405020304" pitchFamily="18" charset="0"/>
              </a:rPr>
              <a:t>DailySpend</a:t>
            </a:r>
            <a:r>
              <a:rPr lang="en-IN" sz="2000" dirty="0">
                <a:latin typeface="Times New Roman" panose="02020603050405020304" pitchFamily="18" charset="0"/>
                <a:cs typeface="Times New Roman" panose="02020603050405020304" pitchFamily="18" charset="0"/>
              </a:rPr>
              <a:t> is a web-based application designed to facilitate systematic personal financial management through the recording, monitoring, and analysis of daily income, expenditures, and monthly budgets.</a:t>
            </a:r>
          </a:p>
          <a:p>
            <a:pPr marL="342900" lvl="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application provides an integrated and user-friendly interface that enables users to maintain transaction records, categorize expenses, establish budget limits, and review financial summaries. The system is developed using HTML, CSS, JavaScript, and React, while browser Local Storage is employed for persistent data storage.</a:t>
            </a:r>
          </a:p>
          <a:p>
            <a:pPr marL="342900" lvl="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primary objective of </a:t>
            </a:r>
            <a:r>
              <a:rPr lang="en-IN" sz="2000" dirty="0" err="1">
                <a:latin typeface="Times New Roman" panose="02020603050405020304" pitchFamily="18" charset="0"/>
                <a:cs typeface="Times New Roman" panose="02020603050405020304" pitchFamily="18" charset="0"/>
              </a:rPr>
              <a:t>DailySpend</a:t>
            </a:r>
            <a:r>
              <a:rPr lang="en-IN" sz="2000" dirty="0">
                <a:latin typeface="Times New Roman" panose="02020603050405020304" pitchFamily="18" charset="0"/>
                <a:cs typeface="Times New Roman" panose="02020603050405020304" pitchFamily="18" charset="0"/>
              </a:rPr>
              <a:t> is to enhance the efficiency of personal expense management, promote informed financial decision-making, and encourage responsible spending habits through an accessible and organized digital platform.</a:t>
            </a:r>
          </a:p>
        </p:txBody>
      </p:sp>
    </p:spTree>
    <p:extLst>
      <p:ext uri="{BB962C8B-B14F-4D97-AF65-F5344CB8AC3E}">
        <p14:creationId xmlns:p14="http://schemas.microsoft.com/office/powerpoint/2010/main" xmlns="" val="293434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6A514C-3E10-098F-1F46-5BF00F99B5B2}"/>
              </a:ext>
            </a:extLst>
          </p:cNvPr>
          <p:cNvSpPr>
            <a:spLocks noGrp="1"/>
          </p:cNvSpPr>
          <p:nvPr>
            <p:ph type="title"/>
          </p:nvPr>
        </p:nvSpPr>
        <p:spPr>
          <a:xfrm>
            <a:off x="523241" y="-274320"/>
            <a:ext cx="10131425" cy="1456267"/>
          </a:xfrm>
        </p:spPr>
        <p:txBody>
          <a:bodyPr/>
          <a:lstStyle/>
          <a:p>
            <a:r>
              <a:rPr lang="en-IN" b="1" dirty="0">
                <a:solidFill>
                  <a:schemeClr val="bg2">
                    <a:lumMod val="20000"/>
                    <a:lumOff val="80000"/>
                  </a:schemeClr>
                </a:solidFill>
                <a:latin typeface="Times New Roman" panose="02020603050405020304" pitchFamily="18" charset="0"/>
                <a:cs typeface="Times New Roman" panose="02020603050405020304" pitchFamily="18" charset="0"/>
              </a:rPr>
              <a:t>System requirements</a:t>
            </a:r>
          </a:p>
        </p:txBody>
      </p:sp>
      <p:sp>
        <p:nvSpPr>
          <p:cNvPr id="5" name="TextBox 4">
            <a:extLst>
              <a:ext uri="{FF2B5EF4-FFF2-40B4-BE49-F238E27FC236}">
                <a16:creationId xmlns:a16="http://schemas.microsoft.com/office/drawing/2014/main" xmlns="" id="{3B4F79F6-B5BA-22C1-143E-233272493CC2}"/>
              </a:ext>
            </a:extLst>
          </p:cNvPr>
          <p:cNvSpPr txBox="1"/>
          <p:nvPr/>
        </p:nvSpPr>
        <p:spPr>
          <a:xfrm>
            <a:off x="523240" y="779016"/>
            <a:ext cx="10440934" cy="2931572"/>
          </a:xfrm>
          <a:prstGeom prst="rect">
            <a:avLst/>
          </a:prstGeom>
          <a:noFill/>
        </p:spPr>
        <p:txBody>
          <a:bodyPr wrap="square">
            <a:spAutoFit/>
          </a:bodyPr>
          <a:lstStyle/>
          <a:p>
            <a:pPr>
              <a:lnSpc>
                <a:spcPct val="150000"/>
              </a:lnSpc>
            </a:pPr>
            <a:r>
              <a:rPr lang="en-IN" sz="2300" b="1" dirty="0">
                <a:latin typeface="Times New Roman" panose="02020603050405020304" pitchFamily="18" charset="0"/>
                <a:cs typeface="Times New Roman" panose="02020603050405020304" pitchFamily="18" charset="0"/>
              </a:rPr>
              <a:t>Hardware Requirements</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Core i3 or equivalent and above.</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Minimum 4 GB; 8 GB recommended.</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Minimum 1 GB of free disk space.</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Internet Connection:</a:t>
            </a:r>
            <a:r>
              <a:rPr lang="en-IN" sz="2000" dirty="0">
                <a:latin typeface="Times New Roman" panose="02020603050405020304" pitchFamily="18" charset="0"/>
                <a:cs typeface="Times New Roman" panose="02020603050405020304" pitchFamily="18" charset="0"/>
              </a:rPr>
              <a:t> Required for accessing the deployed application and online resources.</a:t>
            </a:r>
            <a:r>
              <a:rPr lang="en-IN" sz="2000" b="1" dirty="0">
                <a:latin typeface="Times New Roman" panose="02020603050405020304" pitchFamily="18" charset="0"/>
                <a:cs typeface="Times New Roman" panose="02020603050405020304" pitchFamily="18" charset="0"/>
              </a:rPr>
              <a:t/>
            </a:r>
            <a:br>
              <a:rPr lang="en-IN" sz="2000" b="1"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99980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63BAA-FD1C-B0FD-A9A4-16300342FAD0}"/>
              </a:ext>
            </a:extLst>
          </p:cNvPr>
          <p:cNvSpPr>
            <a:spLocks noGrp="1"/>
          </p:cNvSpPr>
          <p:nvPr>
            <p:ph type="title"/>
          </p:nvPr>
        </p:nvSpPr>
        <p:spPr>
          <a:xfrm>
            <a:off x="471949" y="-78657"/>
            <a:ext cx="10345278" cy="1145458"/>
          </a:xfrm>
        </p:spPr>
        <p:txBody>
          <a:bodyPr/>
          <a:lstStyle/>
          <a:p>
            <a:r>
              <a:rPr lang="en-IN" b="1" dirty="0">
                <a:solidFill>
                  <a:schemeClr val="bg2">
                    <a:lumMod val="20000"/>
                    <a:lumOff val="80000"/>
                  </a:schemeClr>
                </a:solidFill>
                <a:latin typeface="Times New Roman" panose="02020603050405020304" pitchFamily="18" charset="0"/>
                <a:cs typeface="Times New Roman" panose="02020603050405020304" pitchFamily="18" charset="0"/>
              </a:rPr>
              <a:t>System requirements</a:t>
            </a:r>
            <a:endParaRPr lang="en-IN" dirty="0">
              <a:solidFill>
                <a:schemeClr val="bg2">
                  <a:lumMod val="20000"/>
                  <a:lumOff val="8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5F97433-A110-5B9D-71A5-285DFBD051FF}"/>
              </a:ext>
            </a:extLst>
          </p:cNvPr>
          <p:cNvSpPr>
            <a:spLocks noGrp="1"/>
          </p:cNvSpPr>
          <p:nvPr>
            <p:ph idx="1"/>
          </p:nvPr>
        </p:nvSpPr>
        <p:spPr/>
        <p:txBody>
          <a:bodyPr>
            <a:normAutofit fontScale="25000" lnSpcReduction="20000"/>
          </a:bodyPr>
          <a:lstStyle/>
          <a:p>
            <a:pPr marL="0" lvl="0" indent="0">
              <a:lnSpc>
                <a:spcPct val="150000"/>
              </a:lnSpc>
              <a:buNone/>
            </a:pPr>
            <a:r>
              <a:rPr lang="en-IN" sz="9200" b="1" dirty="0">
                <a:latin typeface="Times New Roman" panose="02020603050405020304" pitchFamily="18" charset="0"/>
                <a:cs typeface="Times New Roman" panose="02020603050405020304" pitchFamily="18" charset="0"/>
              </a:rPr>
              <a:t>Software Requirements </a:t>
            </a:r>
          </a:p>
          <a:p>
            <a:pPr lvl="0">
              <a:lnSpc>
                <a:spcPct val="150000"/>
              </a:lnSpc>
            </a:pPr>
            <a:r>
              <a:rPr lang="en-IN" sz="8000" b="1" dirty="0">
                <a:latin typeface="Times New Roman" panose="02020603050405020304" pitchFamily="18" charset="0"/>
                <a:cs typeface="Times New Roman" panose="02020603050405020304" pitchFamily="18" charset="0"/>
              </a:rPr>
              <a:t>Frontend:</a:t>
            </a:r>
            <a:r>
              <a:rPr lang="en-IN" sz="8000" dirty="0">
                <a:latin typeface="Times New Roman" panose="02020603050405020304" pitchFamily="18" charset="0"/>
                <a:cs typeface="Times New Roman" panose="02020603050405020304" pitchFamily="18" charset="0"/>
              </a:rPr>
              <a:t> HTML5, CSS3, JavaScript.</a:t>
            </a:r>
          </a:p>
          <a:p>
            <a:pPr lvl="0">
              <a:lnSpc>
                <a:spcPct val="150000"/>
              </a:lnSpc>
            </a:pPr>
            <a:r>
              <a:rPr lang="en-IN" sz="8000" b="1" dirty="0">
                <a:latin typeface="Times New Roman" panose="02020603050405020304" pitchFamily="18" charset="0"/>
                <a:cs typeface="Times New Roman" panose="02020603050405020304" pitchFamily="18" charset="0"/>
              </a:rPr>
              <a:t>Frontend Framework:</a:t>
            </a:r>
            <a:r>
              <a:rPr lang="en-IN" sz="8000" dirty="0">
                <a:latin typeface="Times New Roman" panose="02020603050405020304" pitchFamily="18" charset="0"/>
                <a:cs typeface="Times New Roman" panose="02020603050405020304" pitchFamily="18" charset="0"/>
              </a:rPr>
              <a:t> React.js.</a:t>
            </a:r>
          </a:p>
          <a:p>
            <a:pPr lvl="0">
              <a:lnSpc>
                <a:spcPct val="150000"/>
              </a:lnSpc>
            </a:pPr>
            <a:r>
              <a:rPr lang="en-IN" sz="8000" b="1" dirty="0">
                <a:latin typeface="Times New Roman" panose="02020603050405020304" pitchFamily="18" charset="0"/>
                <a:cs typeface="Times New Roman" panose="02020603050405020304" pitchFamily="18" charset="0"/>
              </a:rPr>
              <a:t>Build Tool:</a:t>
            </a:r>
            <a:r>
              <a:rPr lang="en-IN" sz="8000" dirty="0">
                <a:latin typeface="Times New Roman" panose="02020603050405020304" pitchFamily="18" charset="0"/>
                <a:cs typeface="Times New Roman" panose="02020603050405020304" pitchFamily="18" charset="0"/>
              </a:rPr>
              <a:t> Vite.</a:t>
            </a:r>
          </a:p>
          <a:p>
            <a:pPr lvl="0">
              <a:lnSpc>
                <a:spcPct val="150000"/>
              </a:lnSpc>
            </a:pPr>
            <a:r>
              <a:rPr lang="en-IN" sz="8000" b="1" dirty="0">
                <a:latin typeface="Times New Roman" panose="02020603050405020304" pitchFamily="18" charset="0"/>
                <a:cs typeface="Times New Roman" panose="02020603050405020304" pitchFamily="18" charset="0"/>
              </a:rPr>
              <a:t>Data Storage:</a:t>
            </a:r>
            <a:r>
              <a:rPr lang="en-IN" sz="8000" dirty="0">
                <a:latin typeface="Times New Roman" panose="02020603050405020304" pitchFamily="18" charset="0"/>
                <a:cs typeface="Times New Roman" panose="02020603050405020304" pitchFamily="18" charset="0"/>
              </a:rPr>
              <a:t> Browser Local Storage.</a:t>
            </a:r>
          </a:p>
          <a:p>
            <a:pPr lvl="0">
              <a:lnSpc>
                <a:spcPct val="150000"/>
              </a:lnSpc>
            </a:pPr>
            <a:r>
              <a:rPr lang="en-IN" sz="8000" b="1" dirty="0">
                <a:latin typeface="Times New Roman" panose="02020603050405020304" pitchFamily="18" charset="0"/>
                <a:cs typeface="Times New Roman" panose="02020603050405020304" pitchFamily="18" charset="0"/>
              </a:rPr>
              <a:t>Code Editor:</a:t>
            </a:r>
            <a:r>
              <a:rPr lang="en-IN" sz="8000" dirty="0">
                <a:latin typeface="Times New Roman" panose="02020603050405020304" pitchFamily="18" charset="0"/>
                <a:cs typeface="Times New Roman" panose="02020603050405020304" pitchFamily="18" charset="0"/>
              </a:rPr>
              <a:t> Visual Studio Code.</a:t>
            </a:r>
          </a:p>
          <a:p>
            <a:pPr lvl="0">
              <a:lnSpc>
                <a:spcPct val="150000"/>
              </a:lnSpc>
            </a:pPr>
            <a:r>
              <a:rPr lang="en-IN" sz="8000" b="1" dirty="0">
                <a:latin typeface="Times New Roman" panose="02020603050405020304" pitchFamily="18" charset="0"/>
                <a:cs typeface="Times New Roman" panose="02020603050405020304" pitchFamily="18" charset="0"/>
              </a:rPr>
              <a:t>Browser:</a:t>
            </a:r>
            <a:r>
              <a:rPr lang="en-IN" sz="8000" dirty="0">
                <a:latin typeface="Times New Roman" panose="02020603050405020304" pitchFamily="18" charset="0"/>
                <a:cs typeface="Times New Roman" panose="02020603050405020304" pitchFamily="18" charset="0"/>
              </a:rPr>
              <a:t> Google Chrome or Microsoft Edge.</a:t>
            </a:r>
          </a:p>
          <a:p>
            <a:pPr lvl="0">
              <a:lnSpc>
                <a:spcPct val="150000"/>
              </a:lnSpc>
            </a:pPr>
            <a:r>
              <a:rPr lang="en-IN" sz="8000" b="1" dirty="0">
                <a:latin typeface="Times New Roman" panose="02020603050405020304" pitchFamily="18" charset="0"/>
                <a:cs typeface="Times New Roman" panose="02020603050405020304" pitchFamily="18" charset="0"/>
              </a:rPr>
              <a:t>Operating System:</a:t>
            </a:r>
            <a:r>
              <a:rPr lang="en-IN" sz="8000" dirty="0">
                <a:latin typeface="Times New Roman" panose="02020603050405020304" pitchFamily="18" charset="0"/>
                <a:cs typeface="Times New Roman" panose="02020603050405020304" pitchFamily="18" charset="0"/>
              </a:rPr>
              <a:t> Windows, Linux, or macOS.</a:t>
            </a:r>
          </a:p>
          <a:p>
            <a:pPr lvl="0">
              <a:lnSpc>
                <a:spcPct val="150000"/>
              </a:lnSpc>
            </a:pPr>
            <a:r>
              <a:rPr lang="en-IN" sz="8000" b="1" dirty="0">
                <a:latin typeface="Times New Roman" panose="02020603050405020304" pitchFamily="18" charset="0"/>
                <a:cs typeface="Times New Roman" panose="02020603050405020304" pitchFamily="18" charset="0"/>
              </a:rPr>
              <a:t>Deployment Platform:</a:t>
            </a:r>
            <a:r>
              <a:rPr lang="en-IN" sz="8000" dirty="0">
                <a:latin typeface="Times New Roman" panose="02020603050405020304" pitchFamily="18" charset="0"/>
                <a:cs typeface="Times New Roman" panose="02020603050405020304" pitchFamily="18" charset="0"/>
              </a:rPr>
              <a:t> </a:t>
            </a:r>
            <a:r>
              <a:rPr lang="en-IN" sz="8000" dirty="0" err="1">
                <a:latin typeface="Times New Roman" panose="02020603050405020304" pitchFamily="18" charset="0"/>
                <a:cs typeface="Times New Roman" panose="02020603050405020304" pitchFamily="18" charset="0"/>
              </a:rPr>
              <a:t>Vercel</a:t>
            </a:r>
            <a:r>
              <a:rPr lang="en-IN" sz="8000" dirty="0">
                <a:latin typeface="Times New Roman" panose="02020603050405020304" pitchFamily="18" charset="0"/>
                <a:cs typeface="Times New Roman" panose="02020603050405020304" pitchFamily="18" charset="0"/>
              </a:rPr>
              <a:t>.</a:t>
            </a:r>
          </a:p>
          <a:p>
            <a:pPr lvl="0">
              <a:lnSpc>
                <a:spcPct val="150000"/>
              </a:lnSpc>
            </a:pPr>
            <a:r>
              <a:rPr lang="en-IN" sz="8000" b="1" dirty="0">
                <a:latin typeface="Times New Roman" panose="02020603050405020304" pitchFamily="18" charset="0"/>
                <a:cs typeface="Times New Roman" panose="02020603050405020304" pitchFamily="18" charset="0"/>
              </a:rPr>
              <a:t>Version Control:</a:t>
            </a:r>
            <a:r>
              <a:rPr lang="en-IN" sz="8000" dirty="0">
                <a:latin typeface="Times New Roman" panose="02020603050405020304" pitchFamily="18" charset="0"/>
                <a:cs typeface="Times New Roman" panose="02020603050405020304" pitchFamily="18" charset="0"/>
              </a:rPr>
              <a:t> Git and GitHub.</a:t>
            </a:r>
          </a:p>
          <a:p>
            <a:endParaRPr lang="en-IN" dirty="0"/>
          </a:p>
        </p:txBody>
      </p:sp>
    </p:spTree>
    <p:extLst>
      <p:ext uri="{BB962C8B-B14F-4D97-AF65-F5344CB8AC3E}">
        <p14:creationId xmlns:p14="http://schemas.microsoft.com/office/powerpoint/2010/main" xmlns="" val="337656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A98CF7-27FD-3FF3-40C6-8BF57E57C18B}"/>
              </a:ext>
            </a:extLst>
          </p:cNvPr>
          <p:cNvSpPr>
            <a:spLocks noGrp="1"/>
          </p:cNvSpPr>
          <p:nvPr>
            <p:ph type="title"/>
          </p:nvPr>
        </p:nvSpPr>
        <p:spPr>
          <a:xfrm>
            <a:off x="275303" y="1"/>
            <a:ext cx="10746658" cy="914400"/>
          </a:xfrm>
        </p:spPr>
        <p:txBody>
          <a:bodyPr/>
          <a:lstStyle/>
          <a:p>
            <a:r>
              <a:rPr lang="en-IN" dirty="0">
                <a:solidFill>
                  <a:schemeClr val="bg2">
                    <a:lumMod val="20000"/>
                    <a:lumOff val="80000"/>
                  </a:schemeClr>
                </a:solidFill>
                <a:latin typeface="Times New Roman" panose="02020603050405020304" pitchFamily="18" charset="0"/>
                <a:cs typeface="Times New Roman" panose="02020603050405020304" pitchFamily="18" charset="0"/>
              </a:rPr>
              <a:t>MODULES IMPLEMENTED</a:t>
            </a:r>
          </a:p>
        </p:txBody>
      </p:sp>
      <p:sp>
        <p:nvSpPr>
          <p:cNvPr id="3" name="Content Placeholder 2">
            <a:extLst>
              <a:ext uri="{FF2B5EF4-FFF2-40B4-BE49-F238E27FC236}">
                <a16:creationId xmlns:a16="http://schemas.microsoft.com/office/drawing/2014/main" xmlns="" id="{E14CD1D6-214F-81AE-5071-0343E19FD738}"/>
              </a:ext>
            </a:extLst>
          </p:cNvPr>
          <p:cNvSpPr>
            <a:spLocks noGrp="1"/>
          </p:cNvSpPr>
          <p:nvPr>
            <p:ph idx="1"/>
          </p:nvPr>
        </p:nvSpPr>
        <p:spPr>
          <a:xfrm>
            <a:off x="685801" y="914401"/>
            <a:ext cx="10131425" cy="5211096"/>
          </a:xfrm>
        </p:spPr>
        <p:txBody>
          <a:bodyPr>
            <a:normAutofit lnSpcReduction="10000"/>
          </a:bodyPr>
          <a:lstStyle/>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Login and Sign-Up Module</a:t>
            </a:r>
            <a:r>
              <a:rPr lang="en-IN" dirty="0">
                <a:latin typeface="Times New Roman" panose="02020603050405020304" pitchFamily="18" charset="0"/>
                <a:cs typeface="Times New Roman" panose="02020603050405020304" pitchFamily="18" charset="0"/>
              </a:rPr>
              <a:t>: Enables users to register and access the application through a basic authentication interface.</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Dashboard Module</a:t>
            </a:r>
            <a:r>
              <a:rPr lang="en-IN" dirty="0">
                <a:latin typeface="Times New Roman" panose="02020603050405020304" pitchFamily="18" charset="0"/>
                <a:cs typeface="Times New Roman" panose="02020603050405020304" pitchFamily="18" charset="0"/>
              </a:rPr>
              <a:t>: Displays total income, total expenses, current balance, and recent transactions.</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Transaction Management Module</a:t>
            </a:r>
            <a:r>
              <a:rPr lang="en-IN" dirty="0">
                <a:latin typeface="Times New Roman" panose="02020603050405020304" pitchFamily="18" charset="0"/>
                <a:cs typeface="Times New Roman" panose="02020603050405020304" pitchFamily="18" charset="0"/>
              </a:rPr>
              <a:t>: Allows users to add, edit, and delete income and expense records.</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Transaction History Module</a:t>
            </a:r>
            <a:r>
              <a:rPr lang="en-IN" dirty="0">
                <a:latin typeface="Times New Roman" panose="02020603050405020304" pitchFamily="18" charset="0"/>
                <a:cs typeface="Times New Roman" panose="02020603050405020304" pitchFamily="18" charset="0"/>
              </a:rPr>
              <a:t>: Provides transaction search, filtering, sorting, and historical record viewing.</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Budget Management Module</a:t>
            </a:r>
            <a:r>
              <a:rPr lang="en-IN" dirty="0">
                <a:latin typeface="Times New Roman" panose="02020603050405020304" pitchFamily="18" charset="0"/>
                <a:cs typeface="Times New Roman" panose="02020603050405020304" pitchFamily="18" charset="0"/>
              </a:rPr>
              <a:t>: Enables users to set monthly and category-wise budgets and monitor spending.</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Reports and Financial Summary Module</a:t>
            </a:r>
            <a:r>
              <a:rPr lang="en-IN" dirty="0">
                <a:latin typeface="Times New Roman" panose="02020603050405020304" pitchFamily="18" charset="0"/>
                <a:cs typeface="Times New Roman" panose="02020603050405020304" pitchFamily="18" charset="0"/>
              </a:rPr>
              <a:t>: Presents numerical summaries of income, expenses, and category-wise expenditure.</a:t>
            </a:r>
          </a:p>
          <a:p>
            <a:pPr lvl="0">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Profile and Settings Module</a:t>
            </a:r>
            <a:r>
              <a:rPr lang="en-IN" dirty="0">
                <a:latin typeface="Times New Roman" panose="02020603050405020304" pitchFamily="18" charset="0"/>
                <a:cs typeface="Times New Roman" panose="02020603050405020304" pitchFamily="18" charset="0"/>
              </a:rPr>
              <a:t>: Provides account-related settings, logout, and data management options.</a:t>
            </a:r>
          </a:p>
          <a:p>
            <a:pPr>
              <a:lnSpc>
                <a:spcPct val="150000"/>
              </a:lnSpc>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45489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44A099-1F77-A6B7-BC79-E357322A3610}"/>
              </a:ext>
            </a:extLst>
          </p:cNvPr>
          <p:cNvSpPr>
            <a:spLocks noGrp="1"/>
          </p:cNvSpPr>
          <p:nvPr>
            <p:ph type="title"/>
          </p:nvPr>
        </p:nvSpPr>
        <p:spPr>
          <a:xfrm>
            <a:off x="147485" y="216310"/>
            <a:ext cx="10669742" cy="850491"/>
          </a:xfrm>
        </p:spPr>
        <p:txBody>
          <a:bodyPr>
            <a:normAutofit/>
          </a:bodyPr>
          <a:lstStyle/>
          <a:p>
            <a:r>
              <a:rPr lang="en-IN" dirty="0">
                <a:solidFill>
                  <a:schemeClr val="bg2">
                    <a:lumMod val="20000"/>
                    <a:lumOff val="80000"/>
                  </a:schemeClr>
                </a:solidFill>
                <a:latin typeface="Times New Roman" panose="02020603050405020304" pitchFamily="18" charset="0"/>
                <a:cs typeface="Times New Roman" panose="02020603050405020304" pitchFamily="18" charset="0"/>
              </a:rPr>
              <a:t>SAMPLE CODING</a:t>
            </a:r>
            <a:endParaRPr lang="en-IN" dirty="0"/>
          </a:p>
        </p:txBody>
      </p:sp>
      <p:pic>
        <p:nvPicPr>
          <p:cNvPr id="5" name="Content Placeholder 4">
            <a:extLst>
              <a:ext uri="{FF2B5EF4-FFF2-40B4-BE49-F238E27FC236}">
                <a16:creationId xmlns:a16="http://schemas.microsoft.com/office/drawing/2014/main" xmlns="" id="{BCE975CB-30F2-7D95-F72A-1054CD08D697}"/>
              </a:ext>
            </a:extLst>
          </p:cNvPr>
          <p:cNvPicPr>
            <a:picLocks noGrp="1" noChangeAspect="1"/>
          </p:cNvPicPr>
          <p:nvPr>
            <p:ph idx="1"/>
          </p:nvPr>
        </p:nvPicPr>
        <p:blipFill>
          <a:blip r:embed="rId2"/>
          <a:stretch>
            <a:fillRect/>
          </a:stretch>
        </p:blipFill>
        <p:spPr>
          <a:xfrm>
            <a:off x="0" y="963561"/>
            <a:ext cx="12192000" cy="5894439"/>
          </a:xfrm>
          <a:prstGeom prst="rect">
            <a:avLst/>
          </a:prstGeom>
        </p:spPr>
      </p:pic>
    </p:spTree>
    <p:extLst>
      <p:ext uri="{BB962C8B-B14F-4D97-AF65-F5344CB8AC3E}">
        <p14:creationId xmlns:p14="http://schemas.microsoft.com/office/powerpoint/2010/main" xmlns="" val="104029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900677-1800-C59C-F92C-BF7EA5A642F1}"/>
              </a:ext>
            </a:extLst>
          </p:cNvPr>
          <p:cNvSpPr>
            <a:spLocks noGrp="1"/>
          </p:cNvSpPr>
          <p:nvPr>
            <p:ph type="title"/>
          </p:nvPr>
        </p:nvSpPr>
        <p:spPr>
          <a:xfrm>
            <a:off x="275303" y="1"/>
            <a:ext cx="10541923" cy="1066800"/>
          </a:xfrm>
        </p:spPr>
        <p:txBody>
          <a:bodyPr/>
          <a:lstStyle/>
          <a:p>
            <a:r>
              <a:rPr lang="en-IN" dirty="0">
                <a:solidFill>
                  <a:schemeClr val="bg2">
                    <a:lumMod val="20000"/>
                    <a:lumOff val="80000"/>
                  </a:schemeClr>
                </a:solidFill>
                <a:latin typeface="Times New Roman" panose="02020603050405020304" pitchFamily="18" charset="0"/>
                <a:cs typeface="Times New Roman" panose="02020603050405020304" pitchFamily="18" charset="0"/>
              </a:rPr>
              <a:t>ARCHITECTURE DIAGRAM</a:t>
            </a:r>
            <a:endParaRPr lang="en-IN" dirty="0"/>
          </a:p>
        </p:txBody>
      </p:sp>
      <p:pic>
        <p:nvPicPr>
          <p:cNvPr id="5" name="Content Placeholder 4">
            <a:extLst>
              <a:ext uri="{FF2B5EF4-FFF2-40B4-BE49-F238E27FC236}">
                <a16:creationId xmlns:a16="http://schemas.microsoft.com/office/drawing/2014/main" xmlns="" id="{0CE4C55F-CB38-E1CC-FAD8-A367D574EB6A}"/>
              </a:ext>
            </a:extLst>
          </p:cNvPr>
          <p:cNvPicPr>
            <a:picLocks noGrp="1" noChangeAspect="1"/>
          </p:cNvPicPr>
          <p:nvPr>
            <p:ph idx="1"/>
          </p:nvPr>
        </p:nvPicPr>
        <p:blipFill>
          <a:blip r:embed="rId2"/>
          <a:stretch>
            <a:fillRect/>
          </a:stretch>
        </p:blipFill>
        <p:spPr>
          <a:xfrm>
            <a:off x="717756" y="983226"/>
            <a:ext cx="10441858" cy="5358580"/>
          </a:xfrm>
          <a:prstGeom prst="rect">
            <a:avLst/>
          </a:prstGeom>
        </p:spPr>
      </p:pic>
    </p:spTree>
    <p:extLst>
      <p:ext uri="{BB962C8B-B14F-4D97-AF65-F5344CB8AC3E}">
        <p14:creationId xmlns:p14="http://schemas.microsoft.com/office/powerpoint/2010/main" xmlns="" val="789237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26DF8-4A9D-2C60-63E8-65137EE83A99}"/>
              </a:ext>
            </a:extLst>
          </p:cNvPr>
          <p:cNvSpPr>
            <a:spLocks noGrp="1"/>
          </p:cNvSpPr>
          <p:nvPr>
            <p:ph type="title"/>
          </p:nvPr>
        </p:nvSpPr>
        <p:spPr>
          <a:xfrm>
            <a:off x="196645" y="98324"/>
            <a:ext cx="10620581" cy="1189702"/>
          </a:xfrm>
        </p:spPr>
        <p:txBody>
          <a:bodyPr/>
          <a:lstStyle/>
          <a:p>
            <a:r>
              <a:rPr lang="en-IN" dirty="0">
                <a:solidFill>
                  <a:schemeClr val="bg2">
                    <a:lumMod val="20000"/>
                    <a:lumOff val="80000"/>
                  </a:schemeClr>
                </a:solidFill>
                <a:latin typeface="Times New Roman" panose="02020603050405020304" pitchFamily="18" charset="0"/>
                <a:cs typeface="Times New Roman" panose="02020603050405020304" pitchFamily="18" charset="0"/>
              </a:rPr>
              <a:t>DEMO Of THE PROJECT</a:t>
            </a:r>
          </a:p>
        </p:txBody>
      </p:sp>
      <p:pic>
        <p:nvPicPr>
          <p:cNvPr id="11" name="Content Placeholder 10">
            <a:extLst>
              <a:ext uri="{FF2B5EF4-FFF2-40B4-BE49-F238E27FC236}">
                <a16:creationId xmlns:a16="http://schemas.microsoft.com/office/drawing/2014/main" xmlns="" id="{276499B8-2C05-052F-8F0B-251F496CE746}"/>
              </a:ext>
            </a:extLst>
          </p:cNvPr>
          <p:cNvPicPr>
            <a:picLocks noGrp="1" noChangeAspect="1"/>
          </p:cNvPicPr>
          <p:nvPr>
            <p:ph idx="1"/>
          </p:nvPr>
        </p:nvPicPr>
        <p:blipFill>
          <a:blip r:embed="rId2"/>
          <a:stretch>
            <a:fillRect/>
          </a:stretch>
        </p:blipFill>
        <p:spPr>
          <a:xfrm>
            <a:off x="790267" y="1288025"/>
            <a:ext cx="3634249" cy="4984955"/>
          </a:xfrm>
          <a:prstGeom prst="rect">
            <a:avLst/>
          </a:prstGeom>
        </p:spPr>
      </p:pic>
      <p:pic>
        <p:nvPicPr>
          <p:cNvPr id="14" name="Picture 13">
            <a:extLst>
              <a:ext uri="{FF2B5EF4-FFF2-40B4-BE49-F238E27FC236}">
                <a16:creationId xmlns:a16="http://schemas.microsoft.com/office/drawing/2014/main" xmlns="" id="{700C1037-0DD1-260A-3AE7-64C14B337E3F}"/>
              </a:ext>
            </a:extLst>
          </p:cNvPr>
          <p:cNvPicPr>
            <a:picLocks noChangeAspect="1"/>
          </p:cNvPicPr>
          <p:nvPr/>
        </p:nvPicPr>
        <p:blipFill>
          <a:blip r:embed="rId3"/>
          <a:stretch>
            <a:fillRect/>
          </a:stretch>
        </p:blipFill>
        <p:spPr>
          <a:xfrm>
            <a:off x="4650658" y="2025445"/>
            <a:ext cx="7020232" cy="4247534"/>
          </a:xfrm>
          <a:prstGeom prst="rect">
            <a:avLst/>
          </a:prstGeom>
        </p:spPr>
      </p:pic>
    </p:spTree>
    <p:extLst>
      <p:ext uri="{BB962C8B-B14F-4D97-AF65-F5344CB8AC3E}">
        <p14:creationId xmlns:p14="http://schemas.microsoft.com/office/powerpoint/2010/main" xmlns="" val="118438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DDF2DE-329E-6DFD-72BD-FEB6CC8F6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5257F70-114E-194D-2524-DE7217096A0A}"/>
              </a:ext>
            </a:extLst>
          </p:cNvPr>
          <p:cNvSpPr>
            <a:spLocks noGrp="1"/>
          </p:cNvSpPr>
          <p:nvPr>
            <p:ph type="title"/>
          </p:nvPr>
        </p:nvSpPr>
        <p:spPr>
          <a:xfrm>
            <a:off x="157317" y="-162560"/>
            <a:ext cx="10537990" cy="1456267"/>
          </a:xfrm>
        </p:spPr>
        <p:txBody>
          <a:bodyPr/>
          <a:lstStyle/>
          <a:p>
            <a:r>
              <a:rPr lang="en-US" b="1" dirty="0">
                <a:solidFill>
                  <a:schemeClr val="bg2">
                    <a:lumMod val="20000"/>
                    <a:lumOff val="80000"/>
                  </a:schemeClr>
                </a:solidFill>
                <a:latin typeface="Times New Roman" panose="02020603050405020304" pitchFamily="18" charset="0"/>
                <a:cs typeface="Times New Roman" panose="02020603050405020304" pitchFamily="18" charset="0"/>
              </a:rPr>
              <a:t>CONCLUSION</a:t>
            </a:r>
            <a:endParaRPr lang="en-IN" b="1" dirty="0">
              <a:solidFill>
                <a:schemeClr val="bg2">
                  <a:lumMod val="20000"/>
                  <a:lumOff val="8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575A42D-0EE9-6880-7A9F-BF32D136925E}"/>
              </a:ext>
            </a:extLst>
          </p:cNvPr>
          <p:cNvSpPr txBox="1"/>
          <p:nvPr/>
        </p:nvSpPr>
        <p:spPr>
          <a:xfrm>
            <a:off x="563880" y="1077591"/>
            <a:ext cx="10529690" cy="4916731"/>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IN" sz="1900" dirty="0" err="1">
                <a:latin typeface="Times New Roman" panose="02020603050405020304" pitchFamily="18" charset="0"/>
                <a:cs typeface="Times New Roman" panose="02020603050405020304" pitchFamily="18" charset="0"/>
              </a:rPr>
              <a:t>DailySpend</a:t>
            </a:r>
            <a:r>
              <a:rPr lang="en-IN" sz="1900" dirty="0">
                <a:latin typeface="Times New Roman" panose="02020603050405020304" pitchFamily="18" charset="0"/>
                <a:cs typeface="Times New Roman" panose="02020603050405020304" pitchFamily="18" charset="0"/>
              </a:rPr>
              <a:t> provides a simple and convenient platform for managing personal finances through systematic tracking of income, expenses, and monthly budgets. By integrating HTML, CSS, JavaScript, and React, the application offers an interactive and user-friendly interface, while browser Local Storage enables the persistence of financial records without requiring a backend server or cloud database</a:t>
            </a:r>
            <a:r>
              <a:rPr lang="en-IN" sz="1900" dirty="0" smtClean="0">
                <a:latin typeface="Times New Roman" panose="02020603050405020304" pitchFamily="18" charset="0"/>
                <a:cs typeface="Times New Roman" panose="02020603050405020304" pitchFamily="18" charset="0"/>
              </a:rPr>
              <a:t>.</a:t>
            </a:r>
          </a:p>
          <a:p>
            <a:pPr marL="285750" indent="-285750" algn="just">
              <a:lnSpc>
                <a:spcPct val="150000"/>
              </a:lnSpc>
            </a:pPr>
            <a:endParaRPr lang="en-IN" sz="19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sz="1900" dirty="0">
                <a:latin typeface="Times New Roman" panose="02020603050405020304" pitchFamily="18" charset="0"/>
                <a:cs typeface="Times New Roman" panose="02020603050405020304" pitchFamily="18" charset="0"/>
              </a:rPr>
              <a:t>The application helps users organize transactions, monitor spending patterns, maintain budget limits, and review financial summaries. It can be further enhanced by integrating cloud-based data storage, secure authentication, data export, advanced financial analytics, and automated budget notifications</a:t>
            </a:r>
            <a:r>
              <a:rPr lang="en-IN" sz="1900" dirty="0" smtClean="0">
                <a:latin typeface="Times New Roman" panose="02020603050405020304" pitchFamily="18" charset="0"/>
                <a:cs typeface="Times New Roman" panose="02020603050405020304" pitchFamily="18" charset="0"/>
              </a:rPr>
              <a:t>.</a:t>
            </a:r>
          </a:p>
          <a:p>
            <a:pPr marL="285750" indent="-285750" algn="just">
              <a:lnSpc>
                <a:spcPct val="150000"/>
              </a:lnSpc>
            </a:pPr>
            <a:endParaRPr lang="en-IN" sz="19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sz="1900" dirty="0">
                <a:latin typeface="Times New Roman" panose="02020603050405020304" pitchFamily="18" charset="0"/>
                <a:cs typeface="Times New Roman" panose="02020603050405020304" pitchFamily="18" charset="0"/>
              </a:rPr>
              <a:t>Overall, the project demonstrates the practical application of frontend web development in building an accessible and efficient solution for personal expense tracking and budget management</a:t>
            </a:r>
            <a:r>
              <a:rPr lang="en-IN"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84824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F6F349-C393-CFBD-4F47-1BE8958D221A}"/>
              </a:ext>
            </a:extLst>
          </p:cNvPr>
          <p:cNvSpPr>
            <a:spLocks noGrp="1"/>
          </p:cNvSpPr>
          <p:nvPr>
            <p:ph type="title"/>
          </p:nvPr>
        </p:nvSpPr>
        <p:spPr>
          <a:xfrm>
            <a:off x="127820" y="609600"/>
            <a:ext cx="4375170" cy="875071"/>
          </a:xfrm>
        </p:spPr>
        <p:txBody>
          <a:bodyPr>
            <a:normAutofit fontScale="90000"/>
          </a:bodyPr>
          <a:lstStyle/>
          <a:p>
            <a:r>
              <a:rPr lang="en-IN" b="1" dirty="0">
                <a:solidFill>
                  <a:schemeClr val="bg2">
                    <a:lumMod val="20000"/>
                    <a:lumOff val="80000"/>
                  </a:schemeClr>
                </a:solidFill>
                <a:latin typeface="Times New Roman" panose="02020603050405020304" pitchFamily="18" charset="0"/>
                <a:cs typeface="Times New Roman" panose="02020603050405020304" pitchFamily="18" charset="0"/>
              </a:rPr>
              <a:t/>
            </a:r>
            <a:br>
              <a:rPr lang="en-IN" b="1" dirty="0">
                <a:solidFill>
                  <a:schemeClr val="bg2">
                    <a:lumMod val="20000"/>
                    <a:lumOff val="80000"/>
                  </a:schemeClr>
                </a:solidFill>
                <a:latin typeface="Times New Roman" panose="02020603050405020304" pitchFamily="18" charset="0"/>
                <a:cs typeface="Times New Roman" panose="02020603050405020304" pitchFamily="18" charset="0"/>
              </a:rPr>
            </a:br>
            <a:r>
              <a:rPr lang="en-IN" b="1" dirty="0" smtClean="0">
                <a:solidFill>
                  <a:schemeClr val="bg2">
                    <a:lumMod val="20000"/>
                    <a:lumOff val="80000"/>
                  </a:schemeClr>
                </a:solidFill>
                <a:latin typeface="Times New Roman" panose="02020603050405020304" pitchFamily="18" charset="0"/>
                <a:cs typeface="Times New Roman" panose="02020603050405020304" pitchFamily="18" charset="0"/>
              </a:rPr>
              <a:t> Project Links </a:t>
            </a:r>
            <a:r>
              <a:rPr lang="en-IN" dirty="0">
                <a:solidFill>
                  <a:schemeClr val="bg2">
                    <a:lumMod val="20000"/>
                    <a:lumOff val="80000"/>
                  </a:schemeClr>
                </a:solidFill>
                <a:latin typeface="Times New Roman" panose="02020603050405020304" pitchFamily="18" charset="0"/>
                <a:cs typeface="Times New Roman" panose="02020603050405020304" pitchFamily="18" charset="0"/>
              </a:rPr>
              <a:t/>
            </a:r>
            <a:br>
              <a:rPr lang="en-IN" dirty="0">
                <a:solidFill>
                  <a:schemeClr val="bg2">
                    <a:lumMod val="20000"/>
                    <a:lumOff val="80000"/>
                  </a:schemeClr>
                </a:solidFill>
                <a:latin typeface="Times New Roman" panose="02020603050405020304" pitchFamily="18" charset="0"/>
                <a:cs typeface="Times New Roman" panose="02020603050405020304" pitchFamily="18" charset="0"/>
              </a:rPr>
            </a:br>
            <a:endParaRPr lang="en-IN" dirty="0">
              <a:solidFill>
                <a:schemeClr val="bg2">
                  <a:lumMod val="20000"/>
                  <a:lumOff val="8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F81C628-3173-C6C6-A4BA-ABB56570BC6E}"/>
              </a:ext>
            </a:extLst>
          </p:cNvPr>
          <p:cNvSpPr>
            <a:spLocks noGrp="1"/>
          </p:cNvSpPr>
          <p:nvPr>
            <p:ph idx="1"/>
          </p:nvPr>
        </p:nvSpPr>
        <p:spPr>
          <a:xfrm>
            <a:off x="659922" y="1822889"/>
            <a:ext cx="10131425" cy="3649133"/>
          </a:xfrm>
        </p:spPr>
        <p:txBody>
          <a:bodyPr/>
          <a:lstStyle/>
          <a:p>
            <a:pPr>
              <a:lnSpc>
                <a:spcPct val="200000"/>
              </a:lnSpc>
            </a:pPr>
            <a:r>
              <a:rPr lang="en-IN" sz="2000" b="1" dirty="0">
                <a:latin typeface="Times New Roman" panose="02020603050405020304" pitchFamily="18" charset="0"/>
                <a:cs typeface="Times New Roman" panose="02020603050405020304" pitchFamily="18" charset="0"/>
              </a:rPr>
              <a:t>GitHub Repository:</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2"/>
              </a:rPr>
              <a:t>https://github.com/mohammedrizwancse/240701327-CS23531-WebProgramming-Lab</a:t>
            </a:r>
            <a:endParaRPr lang="en-IN" sz="2000" dirty="0">
              <a:latin typeface="Times New Roman" panose="02020603050405020304" pitchFamily="18" charset="0"/>
              <a:cs typeface="Times New Roman" panose="02020603050405020304" pitchFamily="18" charset="0"/>
            </a:endParaRPr>
          </a:p>
          <a:p>
            <a:pPr>
              <a:lnSpc>
                <a:spcPct val="200000"/>
              </a:lnSpc>
            </a:pPr>
            <a:r>
              <a:rPr lang="en-IN" sz="2000" b="1" dirty="0">
                <a:latin typeface="Times New Roman" panose="02020603050405020304" pitchFamily="18" charset="0"/>
                <a:cs typeface="Times New Roman" panose="02020603050405020304" pitchFamily="18" charset="0"/>
              </a:rPr>
              <a:t>Live Deployment:</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3"/>
              </a:rPr>
              <a:t>https://</a:t>
            </a:r>
            <a:r>
              <a:rPr lang="en-IN" sz="2000" dirty="0" smtClean="0">
                <a:latin typeface="Times New Roman" panose="02020603050405020304" pitchFamily="18" charset="0"/>
                <a:cs typeface="Times New Roman" panose="02020603050405020304" pitchFamily="18" charset="0"/>
                <a:hlinkClick r:id="rId3"/>
              </a:rPr>
              <a:t>dailyspend-ivory.vercel.app</a:t>
            </a:r>
            <a:endParaRPr lang="en-IN" sz="2000" dirty="0" smtClean="0">
              <a:latin typeface="Times New Roman" panose="02020603050405020304" pitchFamily="18" charset="0"/>
              <a:cs typeface="Times New Roman" panose="02020603050405020304" pitchFamily="18" charset="0"/>
            </a:endParaRPr>
          </a:p>
          <a:p>
            <a:pPr>
              <a:lnSpc>
                <a:spcPct val="200000"/>
              </a:lnSpc>
            </a:pPr>
            <a:endParaRPr lang="en-IN" dirty="0"/>
          </a:p>
        </p:txBody>
      </p:sp>
    </p:spTree>
    <p:extLst>
      <p:ext uri="{BB962C8B-B14F-4D97-AF65-F5344CB8AC3E}">
        <p14:creationId xmlns:p14="http://schemas.microsoft.com/office/powerpoint/2010/main" xmlns="" val="447170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EF3A763-CABA-A144-0D6D-BF8719D6BDE3}"/>
              </a:ext>
            </a:extLst>
          </p:cNvPr>
          <p:cNvSpPr txBox="1"/>
          <p:nvPr/>
        </p:nvSpPr>
        <p:spPr>
          <a:xfrm>
            <a:off x="3383414" y="2828835"/>
            <a:ext cx="4776244" cy="1200329"/>
          </a:xfrm>
          <a:prstGeom prst="rect">
            <a:avLst/>
          </a:prstGeom>
          <a:noFill/>
        </p:spPr>
        <p:txBody>
          <a:bodyPr wrap="none" rtlCol="0">
            <a:spAutoFit/>
          </a:bodyPr>
          <a:lstStyle/>
          <a:p>
            <a:r>
              <a:rPr lang="en-US" sz="7200" b="1" dirty="0">
                <a:solidFill>
                  <a:srgbClr val="00B0F0"/>
                </a:solidFill>
              </a:rPr>
              <a:t>THANK YOU</a:t>
            </a:r>
            <a:endParaRPr lang="en-IN" sz="7200" b="1" dirty="0">
              <a:solidFill>
                <a:srgbClr val="00B0F0"/>
              </a:solidFill>
            </a:endParaRPr>
          </a:p>
        </p:txBody>
      </p:sp>
    </p:spTree>
    <p:extLst>
      <p:ext uri="{BB962C8B-B14F-4D97-AF65-F5344CB8AC3E}">
        <p14:creationId xmlns:p14="http://schemas.microsoft.com/office/powerpoint/2010/main" xmlns="" val="38628734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xmlns=""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{0C54D027-6D89-4FAD-A1E9-C782BF314E9F}TFb5ae2469-0bae-4978-b0e0-39dd046150ff9a115ede-a9c3cc5252b0</Template>
  <TotalTime>210</TotalTime>
  <Words>527</Words>
  <Application>Microsoft Office PowerPoint</Application>
  <PresentationFormat>Custom</PresentationFormat>
  <Paragraphs>46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Celestial</vt:lpstr>
      <vt:lpstr>   DAILYSPEND: DAILY EXPENSE TRACKING &amp; BUDGET MANAGEMENT SYSTEM USING REACT </vt:lpstr>
      <vt:lpstr>Abstract</vt:lpstr>
      <vt:lpstr>System requirements</vt:lpstr>
      <vt:lpstr>System requirements</vt:lpstr>
      <vt:lpstr>MODULES IMPLEMENTED</vt:lpstr>
      <vt:lpstr>SAMPLE CODING</vt:lpstr>
      <vt:lpstr>ARCHITECTURE DIAGRAM</vt:lpstr>
      <vt:lpstr>DEMO Of THE PROJECT</vt:lpstr>
      <vt:lpstr>CONCLUSION</vt:lpstr>
      <vt:lpstr>  Project Links  </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PORTFOLIO MANAGER</dc:title>
  <dc:creator>Nishanth B</dc:creator>
  <cp:lastModifiedBy>Mansoor</cp:lastModifiedBy>
  <cp:revision>13</cp:revision>
  <dcterms:created xsi:type="dcterms:W3CDTF">2026-09-11T13:14:42Z</dcterms:created>
  <dcterms:modified xsi:type="dcterms:W3CDTF">2026-10-17T13:57:03Z</dcterms:modified>
</cp:coreProperties>
</file>